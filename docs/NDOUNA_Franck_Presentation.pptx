
<file path=[Content_Types].xml><?xml version="1.0" encoding="utf-8"?>
<Types xmlns="http://schemas.openxmlformats.org/package/2006/content-types">
  <Default Extension="bin" ContentType="application/octet-stream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  <a:srgbClr val="F7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43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34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691390-B076-417B-95F6-4A71AB758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3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2A927B5-D4B5-4A42-9ED5-E1757692EE2B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247650" cy="38100"/>
          </a:xfrm>
          <a:prstGeom prst="rect">
            <a:avLst/>
          </a:prstGeom>
          <a:solidFill>
            <a:srgbClr val="F3A3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25156F1-D4AA-4B0A-BC11-9A0E1F249C1F}"/>
              </a:ext>
            </a:extLst>
          </p:cNvPr>
          <p:cNvSpPr>
            <a:spLocks noGrp="1"/>
          </p:cNvSpPr>
          <p:nvPr/>
        </p:nvSpPr>
        <p:spPr>
          <a:xfrm>
            <a:off x="933450" y="13716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rPr>
              <a:t>PROJET WEB STATIQUE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A64FAE-1A0F-42D4-AAF4-893EC64A7429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60960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DF8"/>
                </a:solidFill>
                <a:latin typeface="Space Grotesk"/>
                <a:ea typeface="Space Grotesk"/>
                <a:cs typeface="Space Grotesk"/>
              </a:defRPr>
            </a:pPr>
            <a:r>
              <a:rPr sz="3600" b="1">
                <a:solidFill>
                  <a:srgbClr val="FFFDF8"/>
                </a:solidFill>
                <a:latin typeface="Space Grotesk"/>
                <a:ea typeface="Space Grotesk"/>
                <a:cs typeface="Space Grotesk"/>
              </a:rPr>
              <a:t>AfriTalent connecte freelances tech africains et entreprises.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3429E-AA59-4175-BCC1-9244FB5B1695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5905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Site vitrine multi-pages pour connecter freelances tech africains et entreprises ambitieuses.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514350"/>
            <a:ext cx="609600" cy="6096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05650" y="895350"/>
            <a:ext cx="4171950" cy="3638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0B77DD-2517-47F1-A2BC-406A816F538E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90500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BDD665-56DA-4030-9576-B41789D6F347}"/>
              </a:ext>
            </a:extLst>
          </p:cNvPr>
          <p:cNvSpPr>
            <a:spLocks noGrp="1"/>
          </p:cNvSpPr>
          <p:nvPr/>
        </p:nvSpPr>
        <p:spPr>
          <a:xfrm>
            <a:off x="704850" y="5010150"/>
            <a:ext cx="1562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17B62-51A8-43DF-82A4-92B64370BBEA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pages HTML principales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AC699-516B-4189-983C-B4AD3C1366A8}"/>
              </a:ext>
            </a:extLst>
          </p:cNvPr>
          <p:cNvSpPr>
            <a:spLocks noGrp="1"/>
          </p:cNvSpPr>
          <p:nvPr/>
        </p:nvSpPr>
        <p:spPr>
          <a:xfrm>
            <a:off x="2724150" y="4838700"/>
            <a:ext cx="219075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361011-9DAD-4EFF-B14D-D7D56DA51E89}"/>
              </a:ext>
            </a:extLst>
          </p:cNvPr>
          <p:cNvSpPr>
            <a:spLocks noGrp="1"/>
          </p:cNvSpPr>
          <p:nvPr/>
        </p:nvSpPr>
        <p:spPr>
          <a:xfrm>
            <a:off x="2895600" y="5010150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3F324-77C4-4572-9305-32869F924680}"/>
              </a:ext>
            </a:extLst>
          </p:cNvPr>
          <p:cNvSpPr>
            <a:spLocks noGrp="1"/>
          </p:cNvSpPr>
          <p:nvPr/>
        </p:nvSpPr>
        <p:spPr>
          <a:xfrm>
            <a:off x="2895600" y="546735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profils freelances filtrables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32669-4687-4C46-B5E2-3737F6A2747B}"/>
              </a:ext>
            </a:extLst>
          </p:cNvPr>
          <p:cNvSpPr>
            <a:spLocks noGrp="1"/>
          </p:cNvSpPr>
          <p:nvPr/>
        </p:nvSpPr>
        <p:spPr>
          <a:xfrm>
            <a:off x="5200650" y="4838700"/>
            <a:ext cx="272415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4C3FB-678D-4FD7-8E52-FB08032E5D79}"/>
              </a:ext>
            </a:extLst>
          </p:cNvPr>
          <p:cNvSpPr>
            <a:spLocks noGrp="1"/>
          </p:cNvSpPr>
          <p:nvPr/>
        </p:nvSpPr>
        <p:spPr>
          <a:xfrm>
            <a:off x="5372100" y="50101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Bootstrap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82CE0D-FE42-4845-9111-CFE8B3E3D72B}"/>
              </a:ext>
            </a:extLst>
          </p:cNvPr>
          <p:cNvSpPr>
            <a:spLocks noGrp="1"/>
          </p:cNvSpPr>
          <p:nvPr/>
        </p:nvSpPr>
        <p:spPr>
          <a:xfrm>
            <a:off x="5372100" y="54673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base responsive + composants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7A6D91-F5C4-4401-8FE2-C5BC5EF1E510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AfriTalent - Présentation du projet</a:t>
            </a:r>
          </a:p>
        </p:txBody>
      </p:sp>
    </p:spTree>
    <p:extLst>
      <p:ext uri="{BB962C8B-B14F-4D97-AF65-F5344CB8AC3E}">
        <p14:creationId xmlns:p14="http://schemas.microsoft.com/office/powerpoint/2010/main" val="154161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C123502-CA9F-48B6-8EF8-5D77A2ED41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0729109-D542-41DA-8A37-506972FFB68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AAC0FFC-D404-46DA-8114-9E44997D80A2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PROBLÉMATIQUE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953BD-2FCD-430F-985D-2AA51F46D269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Le site répond à un double besoin : visibilité pour les talents, confiance pour les recruteurs.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526BA-5AC2-4C54-8A84-567AF295A4AB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76200" cy="762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B9F5D-B740-4133-A24B-5B6B92875B6E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474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Les freelances tech africains ont besoin d'une vitrine claire pour valoriser expertise, tarifs et disponibilité.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1F4772-9B6C-40C0-A3E1-5C0A8A37A251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76200" cy="762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5A085-B5B6-4EA0-8ABE-523E170AE467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474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Les entreprises veulent identifier rapidement des profils qualifiés par spécialité et niveau de confiance.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9F591-5BF1-4985-9A67-64113E04AC79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76200" cy="762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776E74-26FD-43E3-8F7D-AB97F587A77C}"/>
              </a:ext>
            </a:extLst>
          </p:cNvPr>
          <p:cNvSpPr>
            <a:spLocks noGrp="1"/>
          </p:cNvSpPr>
          <p:nvPr/>
        </p:nvSpPr>
        <p:spPr>
          <a:xfrm>
            <a:off x="895350" y="3962400"/>
            <a:ext cx="474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Le projet transforme cette promesse en parcours lisible : découvrir, filtrer, comparer, contacter.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C9E17-047B-4D7F-A248-5455B1F70280}"/>
              </a:ext>
            </a:extLst>
          </p:cNvPr>
          <p:cNvSpPr>
            <a:spLocks noGrp="1"/>
          </p:cNvSpPr>
          <p:nvPr/>
        </p:nvSpPr>
        <p:spPr>
          <a:xfrm>
            <a:off x="6762750" y="2171700"/>
            <a:ext cx="4000500" cy="278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25F738-1634-4294-850A-82437F0E8BE6}"/>
              </a:ext>
            </a:extLst>
          </p:cNvPr>
          <p:cNvSpPr>
            <a:spLocks noGrp="1"/>
          </p:cNvSpPr>
          <p:nvPr/>
        </p:nvSpPr>
        <p:spPr>
          <a:xfrm>
            <a:off x="7124700" y="2476500"/>
            <a:ext cx="3143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Positionnement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B8B340-D664-491E-B858-DBE62376CA3D}"/>
              </a:ext>
            </a:extLst>
          </p:cNvPr>
          <p:cNvSpPr>
            <a:spLocks noGrp="1"/>
          </p:cNvSpPr>
          <p:nvPr/>
        </p:nvSpPr>
        <p:spPr>
          <a:xfrm>
            <a:off x="7143750" y="31813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Freelances : profils, portfolios, tarifs horaires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322B53-50F4-4FA7-917A-6CFBFAF4730D}"/>
              </a:ext>
            </a:extLst>
          </p:cNvPr>
          <p:cNvSpPr>
            <a:spLocks noGrp="1"/>
          </p:cNvSpPr>
          <p:nvPr/>
        </p:nvSpPr>
        <p:spPr>
          <a:xfrm>
            <a:off x="7143750" y="36957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Entreprises : matching, brief, contact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F1FF0C-2338-4A30-AD51-969214BFBE36}"/>
              </a:ext>
            </a:extLst>
          </p:cNvPr>
          <p:cNvSpPr>
            <a:spLocks noGrp="1"/>
          </p:cNvSpPr>
          <p:nvPr/>
        </p:nvSpPr>
        <p:spPr>
          <a:xfrm>
            <a:off x="7143750" y="42100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Écosystème : valeurs, équipe, ressources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4EA7A-D922-48ED-9BA2-27D79496DE02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E63D60-95AA-454D-B880-1044CEF20084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198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E127431-B409-426B-A175-8E9B9C6360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48B9D10-4F43-42D4-908C-A40FD93351E2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EBA9F58-8838-4302-A142-898EC4BC3AFA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PARCOURS UTILISATEUR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CD398-BC8D-4168-B2D1-2DB69B2EBA28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L'expérience guide l'utilisateur de la découverte jusqu'à la prise de contact.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21DD3-2F9C-4475-BAED-440EA3DE725F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2266950" cy="2019300"/>
          </a:xfrm>
          <a:prstGeom prst="rect">
            <a:avLst/>
          </a:prstGeom>
          <a:solidFill>
            <a:srgbClr val="F0E5D1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5E1D3-DB28-43A3-8B26-8941BCF76265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F750A0-FEB5-4630-88D2-A1DD1D1A49FA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Découvrir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C975D-365C-428E-BA4B-072E63315F26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1733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Hero, chiffres clés, catégories et témoignages donnent le contexte.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524B75-0B05-46BC-A4E5-C8B2E7A748DD}"/>
              </a:ext>
            </a:extLst>
          </p:cNvPr>
          <p:cNvSpPr>
            <a:spLocks noGrp="1"/>
          </p:cNvSpPr>
          <p:nvPr/>
        </p:nvSpPr>
        <p:spPr>
          <a:xfrm>
            <a:off x="3105150" y="3562350"/>
            <a:ext cx="266700" cy="1905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FB5806-619F-4591-9CF9-6E57E737B027}"/>
              </a:ext>
            </a:extLst>
          </p:cNvPr>
          <p:cNvSpPr>
            <a:spLocks noGrp="1"/>
          </p:cNvSpPr>
          <p:nvPr/>
        </p:nvSpPr>
        <p:spPr>
          <a:xfrm>
            <a:off x="3505200" y="2628900"/>
            <a:ext cx="2266950" cy="2019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625BF-CCC0-4D30-8722-EBF96A1A2670}"/>
              </a:ext>
            </a:extLst>
          </p:cNvPr>
          <p:cNvSpPr>
            <a:spLocks noGrp="1"/>
          </p:cNvSpPr>
          <p:nvPr/>
        </p:nvSpPr>
        <p:spPr>
          <a:xfrm>
            <a:off x="3733800" y="28765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7A855A-5DD4-4B74-BDDB-A67761C16D60}"/>
              </a:ext>
            </a:extLst>
          </p:cNvPr>
          <p:cNvSpPr>
            <a:spLocks noGrp="1"/>
          </p:cNvSpPr>
          <p:nvPr/>
        </p:nvSpPr>
        <p:spPr>
          <a:xfrm>
            <a:off x="3733800" y="33718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Comparer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5025C1-1D55-44F6-ACBE-64B4F46474FA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1733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Catalogue filtrable par spécialité et plans tarifaires structurés.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85FF2D-5B0E-4598-AC86-F783F5923FE3}"/>
              </a:ext>
            </a:extLst>
          </p:cNvPr>
          <p:cNvSpPr>
            <a:spLocks noGrp="1"/>
          </p:cNvSpPr>
          <p:nvPr/>
        </p:nvSpPr>
        <p:spPr>
          <a:xfrm>
            <a:off x="5886450" y="3562350"/>
            <a:ext cx="266700" cy="1905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73BF3-4BDC-4801-B6C6-F3338978A4E2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2266950" cy="2019300"/>
          </a:xfrm>
          <a:prstGeom prst="rect">
            <a:avLst/>
          </a:prstGeom>
          <a:solidFill>
            <a:srgbClr val="F0E5D1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28F6D3-D764-4478-8747-9A36B5E3A0FA}"/>
              </a:ext>
            </a:extLst>
          </p:cNvPr>
          <p:cNvSpPr>
            <a:spLocks noGrp="1"/>
          </p:cNvSpPr>
          <p:nvPr/>
        </p:nvSpPr>
        <p:spPr>
          <a:xfrm>
            <a:off x="6515100" y="28765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B990F9-8207-44D3-A83D-2DADCE454991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Comprendre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585CF1-9D7E-4CC9-9481-36EF6099BAF6}"/>
              </a:ext>
            </a:extLst>
          </p:cNvPr>
          <p:cNvSpPr>
            <a:spLocks noGrp="1"/>
          </p:cNvSpPr>
          <p:nvPr/>
        </p:nvSpPr>
        <p:spPr>
          <a:xfrm>
            <a:off x="6515100" y="3867150"/>
            <a:ext cx="1733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Page À propos, valeurs, équipe et FAQ rassurent le visiteur.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CA09F-6E02-407B-9D94-90DB24034CE9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266700" cy="1905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B376F0-078B-44E1-AA2B-A8B5A93FC5BA}"/>
              </a:ext>
            </a:extLst>
          </p:cNvPr>
          <p:cNvSpPr>
            <a:spLocks noGrp="1"/>
          </p:cNvSpPr>
          <p:nvPr/>
        </p:nvSpPr>
        <p:spPr>
          <a:xfrm>
            <a:off x="9067800" y="2628900"/>
            <a:ext cx="2266950" cy="2019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F55461-393A-45E5-AF25-46B0197DE869}"/>
              </a:ext>
            </a:extLst>
          </p:cNvPr>
          <p:cNvSpPr>
            <a:spLocks noGrp="1"/>
          </p:cNvSpPr>
          <p:nvPr/>
        </p:nvSpPr>
        <p:spPr>
          <a:xfrm>
            <a:off x="9296400" y="28765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C96F2D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11A4E8-F36A-40AA-9373-727F67613E6F}"/>
              </a:ext>
            </a:extLst>
          </p:cNvPr>
          <p:cNvSpPr>
            <a:spLocks noGrp="1"/>
          </p:cNvSpPr>
          <p:nvPr/>
        </p:nvSpPr>
        <p:spPr>
          <a:xfrm>
            <a:off x="9296400" y="33718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Agir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54D970-9F3A-41CF-AE5F-75C5A8D6ADCF}"/>
              </a:ext>
            </a:extLst>
          </p:cNvPr>
          <p:cNvSpPr>
            <a:spLocks noGrp="1"/>
          </p:cNvSpPr>
          <p:nvPr/>
        </p:nvSpPr>
        <p:spPr>
          <a:xfrm>
            <a:off x="9296400" y="3867150"/>
            <a:ext cx="1733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Formulaire validé en JS et coordonnées localisées à Dakar.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789966-00D1-4147-889F-0BA92E86F7EC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9CFC62-DDAC-42A1-BBB1-5C6BED33BA2B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735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47C07A2-6E4C-405A-A59E-F651AF189D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2CA3F27-ADCC-43D7-B954-704BBEABA30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1595467-7672-4B38-AFBD-4DA45D43B6F0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85BD11-92B2-48A6-A2F4-6BC1D53878C0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Une structure simple rend le projet facile à lire, tester et maintenir.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DF0FE1-46B6-4A68-B168-A088DFF43E3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790700" cy="361950"/>
          </a:xfrm>
          <a:prstGeom prst="rect">
            <a:avLst/>
          </a:prstGeom>
          <a:solidFill>
            <a:srgbClr val="0F766E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FFFDF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FFFDF8"/>
                </a:solidFill>
                <a:latin typeface="Plus Jakarta Sans"/>
                <a:ea typeface="Plus Jakarta Sans"/>
                <a:cs typeface="Plus Jakarta Sans"/>
              </a:rPr>
              <a:t>index.html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377D0-C46B-40F5-BA96-CFE1743FF16D}"/>
              </a:ext>
            </a:extLst>
          </p:cNvPr>
          <p:cNvSpPr>
            <a:spLocks noGrp="1"/>
          </p:cNvSpPr>
          <p:nvPr/>
        </p:nvSpPr>
        <p:spPr>
          <a:xfrm>
            <a:off x="2781300" y="2276475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Accueil, hero, catégories, témoignages, blog, CTA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037D0-4F74-4C01-8010-0CF957A70F34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179070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freelances.html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C0DE2-0EF6-4AC1-AC7D-50B5E652C964}"/>
              </a:ext>
            </a:extLst>
          </p:cNvPr>
          <p:cNvSpPr>
            <a:spLocks noGrp="1"/>
          </p:cNvSpPr>
          <p:nvPr/>
        </p:nvSpPr>
        <p:spPr>
          <a:xfrm>
            <a:off x="2781300" y="2867025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Catalogue de 9 profils avec filtres dynamiques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1B70BA-9BBC-4ED1-8EA5-B433D84B3B95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179070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tarifs.html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0EF3F-E622-49F6-B060-CEEEDFC442BA}"/>
              </a:ext>
            </a:extLst>
          </p:cNvPr>
          <p:cNvSpPr>
            <a:spLocks noGrp="1"/>
          </p:cNvSpPr>
          <p:nvPr/>
        </p:nvSpPr>
        <p:spPr>
          <a:xfrm>
            <a:off x="2781300" y="3457575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Plans Gratuit, Pro, Entreprise + FAQ accordion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AE7D9-6018-474E-A697-7C29FE9ACEEC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79070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about.html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EF7335-D3FB-45A3-9D3A-57EAE545F477}"/>
              </a:ext>
            </a:extLst>
          </p:cNvPr>
          <p:cNvSpPr>
            <a:spLocks noGrp="1"/>
          </p:cNvSpPr>
          <p:nvPr/>
        </p:nvSpPr>
        <p:spPr>
          <a:xfrm>
            <a:off x="2781300" y="4048125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Mission, équipe, valeurs, chiffres clés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EA9EE2-24E1-4843-8F4C-F3F55ED06106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79070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contact.html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601A95-C489-4A91-BF5E-CAEC48443F3B}"/>
              </a:ext>
            </a:extLst>
          </p:cNvPr>
          <p:cNvSpPr>
            <a:spLocks noGrp="1"/>
          </p:cNvSpPr>
          <p:nvPr/>
        </p:nvSpPr>
        <p:spPr>
          <a:xfrm>
            <a:off x="2781300" y="4638675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Formulaire validé, coordonnées, carte intégrée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CE4390-0715-4A56-B074-406F63CCB978}"/>
              </a:ext>
            </a:extLst>
          </p:cNvPr>
          <p:cNvSpPr>
            <a:spLocks noGrp="1"/>
          </p:cNvSpPr>
          <p:nvPr/>
        </p:nvSpPr>
        <p:spPr>
          <a:xfrm>
            <a:off x="8248650" y="2209800"/>
            <a:ext cx="2628900" cy="2971800"/>
          </a:xfrm>
          <a:prstGeom prst="rect">
            <a:avLst/>
          </a:prstGeom>
          <a:solidFill>
            <a:srgbClr val="151311"/>
          </a:solidFill>
          <a:ln w="9525">
            <a:solidFill>
              <a:srgbClr val="1513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81911A-B534-4180-B534-23B496AED4B1}"/>
              </a:ext>
            </a:extLst>
          </p:cNvPr>
          <p:cNvSpPr>
            <a:spLocks noGrp="1"/>
          </p:cNvSpPr>
          <p:nvPr/>
        </p:nvSpPr>
        <p:spPr>
          <a:xfrm>
            <a:off x="8572500" y="2571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rPr>
              <a:t>css/style.css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42E663-F056-42E4-B03B-294E1BE5929D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rPr>
              <a:t>js/main.js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DD5C4-51B1-438C-A73D-7402D2BDDC63}"/>
              </a:ext>
            </a:extLst>
          </p:cNvPr>
          <p:cNvSpPr>
            <a:spLocks noGrp="1"/>
          </p:cNvSpPr>
          <p:nvPr/>
        </p:nvSpPr>
        <p:spPr>
          <a:xfrm>
            <a:off x="8572500" y="3486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images/*.svg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83D9D1-A5B4-4BC8-BA6F-D183908ADC85}"/>
              </a:ext>
            </a:extLst>
          </p:cNvPr>
          <p:cNvSpPr>
            <a:spLocks noGrp="1"/>
          </p:cNvSpPr>
          <p:nvPr/>
        </p:nvSpPr>
        <p:spPr>
          <a:xfrm>
            <a:off x="8572500" y="3943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docs/*.pptx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85D79-E45B-4EEB-892C-2844CEFD5151}"/>
              </a:ext>
            </a:extLst>
          </p:cNvPr>
          <p:cNvSpPr>
            <a:spLocks noGrp="1"/>
          </p:cNvSpPr>
          <p:nvPr/>
        </p:nvSpPr>
        <p:spPr>
          <a:xfrm>
            <a:off x="8572500" y="44005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README.md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1A2A3F-F4A2-41BF-9449-9BADF2FF3F8E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40913-5348-47B3-AFAF-F26C03B39B29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677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FC215B3-FA86-44A7-B0D7-B57E862B61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F9C2219-DA8A-43BD-B641-E3586043759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3B3FAD8-EC70-4764-A247-1A90112A8308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FONCTIONNALITÉS JAVASCRIPT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63EF1-86D5-4A31-BC77-7FC469628F3D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Le JavaScript vanilla ajoute les interactions essentielles sans complexifier la stack.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23124-694A-4AAC-8376-1E367622EE00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247650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945FF0-6E08-445F-9DCD-9320343FF531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2133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localStorage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4E20B-042E-4194-922F-B627F86D9FFA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2133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mémorise le thème clair/sombre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A2D800-DC44-4D54-8552-9A09A3A8DAF8}"/>
              </a:ext>
            </a:extLst>
          </p:cNvPr>
          <p:cNvSpPr>
            <a:spLocks noGrp="1"/>
          </p:cNvSpPr>
          <p:nvPr/>
        </p:nvSpPr>
        <p:spPr>
          <a:xfrm>
            <a:off x="3524250" y="2362200"/>
            <a:ext cx="247650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05D410-D96E-448D-A60D-711235E7BD7F}"/>
              </a:ext>
            </a:extLst>
          </p:cNvPr>
          <p:cNvSpPr>
            <a:spLocks noGrp="1"/>
          </p:cNvSpPr>
          <p:nvPr/>
        </p:nvSpPr>
        <p:spPr>
          <a:xfrm>
            <a:off x="3695700" y="2533650"/>
            <a:ext cx="2133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Observer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01AC16-25E3-4DF3-9642-1AAE43763355}"/>
              </a:ext>
            </a:extLst>
          </p:cNvPr>
          <p:cNvSpPr>
            <a:spLocks noGrp="1"/>
          </p:cNvSpPr>
          <p:nvPr/>
        </p:nvSpPr>
        <p:spPr>
          <a:xfrm>
            <a:off x="3695700" y="2990850"/>
            <a:ext cx="2133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déclenche compteurs et révélations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FF2CC-0D8F-4D58-BD3D-31E82DCAA9CF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247650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70FBD8-D2BA-4484-983B-329C91EDCD35}"/>
              </a:ext>
            </a:extLst>
          </p:cNvPr>
          <p:cNvSpPr>
            <a:spLocks noGrp="1"/>
          </p:cNvSpPr>
          <p:nvPr/>
        </p:nvSpPr>
        <p:spPr>
          <a:xfrm>
            <a:off x="6553200" y="2533650"/>
            <a:ext cx="2133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data-filter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6E6AF-3170-46D5-9FB4-75CE69388756}"/>
              </a:ext>
            </a:extLst>
          </p:cNvPr>
          <p:cNvSpPr>
            <a:spLocks noGrp="1"/>
          </p:cNvSpPr>
          <p:nvPr/>
        </p:nvSpPr>
        <p:spPr>
          <a:xfrm>
            <a:off x="6553200" y="2990850"/>
            <a:ext cx="2133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filtre les profils par catégorie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6849A3-956E-44EA-B520-C71480E7CA4F}"/>
              </a:ext>
            </a:extLst>
          </p:cNvPr>
          <p:cNvSpPr>
            <a:spLocks noGrp="1"/>
          </p:cNvSpPr>
          <p:nvPr/>
        </p:nvSpPr>
        <p:spPr>
          <a:xfrm>
            <a:off x="9239250" y="2362200"/>
            <a:ext cx="209550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FE95CB-D00D-4BF6-84B0-632A1E51DD55}"/>
              </a:ext>
            </a:extLst>
          </p:cNvPr>
          <p:cNvSpPr>
            <a:spLocks noGrp="1"/>
          </p:cNvSpPr>
          <p:nvPr/>
        </p:nvSpPr>
        <p:spPr>
          <a:xfrm>
            <a:off x="9410700" y="25336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F5EB88-6DE5-4452-94CE-5C2B32E7AA57}"/>
              </a:ext>
            </a:extLst>
          </p:cNvPr>
          <p:cNvSpPr>
            <a:spLocks noGrp="1"/>
          </p:cNvSpPr>
          <p:nvPr/>
        </p:nvSpPr>
        <p:spPr>
          <a:xfrm>
            <a:off x="9410700" y="29908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valide nom, email, sujet et message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E42FE2-500B-45F6-A118-D3B18C1D6AAA}"/>
              </a:ext>
            </a:extLst>
          </p:cNvPr>
          <p:cNvSpPr>
            <a:spLocks noGrp="1"/>
          </p:cNvSpPr>
          <p:nvPr/>
        </p:nvSpPr>
        <p:spPr>
          <a:xfrm>
            <a:off x="895350" y="41814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47B630-A847-4AB2-A161-B70ECF32FDFE}"/>
              </a:ext>
            </a:extLst>
          </p:cNvPr>
          <p:cNvSpPr>
            <a:spLocks noGrp="1"/>
          </p:cNvSpPr>
          <p:nvPr/>
        </p:nvSpPr>
        <p:spPr>
          <a:xfrm>
            <a:off x="1104900" y="4114800"/>
            <a:ext cx="4457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Navbar fixe enrichie au scroll avec classe `.scrolled`.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F1D32C-9862-473C-B345-DB9151FCCCA3}"/>
              </a:ext>
            </a:extLst>
          </p:cNvPr>
          <p:cNvSpPr>
            <a:spLocks noGrp="1"/>
          </p:cNvSpPr>
          <p:nvPr/>
        </p:nvSpPr>
        <p:spPr>
          <a:xfrm>
            <a:off x="895350" y="47529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A19C52-7EC3-4168-8AD8-4BBB017F2E1F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4457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Bouton retour en haut visible après défilement.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B39353-548F-4772-ABDA-4DB0AC5F9471}"/>
              </a:ext>
            </a:extLst>
          </p:cNvPr>
          <p:cNvSpPr>
            <a:spLocks noGrp="1"/>
          </p:cNvSpPr>
          <p:nvPr/>
        </p:nvSpPr>
        <p:spPr>
          <a:xfrm>
            <a:off x="6419850" y="41814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3F5E74-F285-4406-A86D-FEFEC4A2F63D}"/>
              </a:ext>
            </a:extLst>
          </p:cNvPr>
          <p:cNvSpPr>
            <a:spLocks noGrp="1"/>
          </p:cNvSpPr>
          <p:nvPr/>
        </p:nvSpPr>
        <p:spPr>
          <a:xfrm>
            <a:off x="6629400" y="4114800"/>
            <a:ext cx="4076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Message de confirmation côté interface après validation.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4B876E-7D59-47DD-B522-EB4053D571FE}"/>
              </a:ext>
            </a:extLst>
          </p:cNvPr>
          <p:cNvSpPr>
            <a:spLocks noGrp="1"/>
          </p:cNvSpPr>
          <p:nvPr/>
        </p:nvSpPr>
        <p:spPr>
          <a:xfrm>
            <a:off x="6419850" y="47529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3E873-B424-4059-8D26-3E996C4EC823}"/>
              </a:ext>
            </a:extLst>
          </p:cNvPr>
          <p:cNvSpPr>
            <a:spLocks noGrp="1"/>
          </p:cNvSpPr>
          <p:nvPr/>
        </p:nvSpPr>
        <p:spPr>
          <a:xfrm>
            <a:off x="6629400" y="4686300"/>
            <a:ext cx="4076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Année du footer injectée dynamiquement.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802D97-AADF-45E9-8876-FD361CF10944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232BBB-172C-44D3-B916-9C30CB53C018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2425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FE14E1-EBDF-4D3B-9112-EC8F9DFB61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937DEF8-E2A9-4754-AFA7-8DF570EDEDF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693E8CA-32AB-4FBC-928A-F8F141C00259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DESIGN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202B60-213C-4D37-B531-A7E042C8C2B9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L'identité visuelle combine chaleur, lisibilité et codes SaaS modernes.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63533-9780-4BB9-B9B7-2A59CB6CAEE0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123950" cy="1123950"/>
          </a:xfrm>
          <a:prstGeom prst="rect">
            <a:avLst/>
          </a:prstGeom>
          <a:solidFill>
            <a:srgbClr val="C96F2D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41EAE-38A8-4E77-8848-73E1DD0DD2D1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Primaire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2CEF0-7A31-4575-8EB1-4B1520636D15}"/>
              </a:ext>
            </a:extLst>
          </p:cNvPr>
          <p:cNvSpPr>
            <a:spLocks noGrp="1"/>
          </p:cNvSpPr>
          <p:nvPr/>
        </p:nvSpPr>
        <p:spPr>
          <a:xfrm>
            <a:off x="2438400" y="2400300"/>
            <a:ext cx="1123950" cy="1123950"/>
          </a:xfrm>
          <a:prstGeom prst="rect">
            <a:avLst/>
          </a:prstGeom>
          <a:solidFill>
            <a:srgbClr val="0F766E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A21A1B-243F-4461-86A3-47260F517E3E}"/>
              </a:ext>
            </a:extLst>
          </p:cNvPr>
          <p:cNvSpPr>
            <a:spLocks noGrp="1"/>
          </p:cNvSpPr>
          <p:nvPr/>
        </p:nvSpPr>
        <p:spPr>
          <a:xfrm>
            <a:off x="2438400" y="3676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Secondaire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0D5EC-9D92-46FC-87C9-F48CAA45F24A}"/>
              </a:ext>
            </a:extLst>
          </p:cNvPr>
          <p:cNvSpPr>
            <a:spLocks noGrp="1"/>
          </p:cNvSpPr>
          <p:nvPr/>
        </p:nvSpPr>
        <p:spPr>
          <a:xfrm>
            <a:off x="4057650" y="2400300"/>
            <a:ext cx="1123950" cy="1123950"/>
          </a:xfrm>
          <a:prstGeom prst="rect">
            <a:avLst/>
          </a:prstGeom>
          <a:solidFill>
            <a:srgbClr val="F7F2E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E7B8C-99D2-403E-806B-83BCA18F663E}"/>
              </a:ext>
            </a:extLst>
          </p:cNvPr>
          <p:cNvSpPr>
            <a:spLocks noGrp="1"/>
          </p:cNvSpPr>
          <p:nvPr/>
        </p:nvSpPr>
        <p:spPr>
          <a:xfrm>
            <a:off x="4057650" y="3676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Fond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11B92-A320-4FA1-802C-81191B1B4DD4}"/>
              </a:ext>
            </a:extLst>
          </p:cNvPr>
          <p:cNvSpPr>
            <a:spLocks noGrp="1"/>
          </p:cNvSpPr>
          <p:nvPr/>
        </p:nvSpPr>
        <p:spPr>
          <a:xfrm>
            <a:off x="5676900" y="2400300"/>
            <a:ext cx="1123950" cy="1123950"/>
          </a:xfrm>
          <a:prstGeom prst="rect">
            <a:avLst/>
          </a:prstGeom>
          <a:solidFill>
            <a:srgbClr val="151311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1C2ED4-8DEC-4713-ACAA-9377876D8144}"/>
              </a:ext>
            </a:extLst>
          </p:cNvPr>
          <p:cNvSpPr>
            <a:spLocks noGrp="1"/>
          </p:cNvSpPr>
          <p:nvPr/>
        </p:nvSpPr>
        <p:spPr>
          <a:xfrm>
            <a:off x="5676900" y="3676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Mode sombre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B11AED-3624-47A4-85BC-1DA9796235B0}"/>
              </a:ext>
            </a:extLst>
          </p:cNvPr>
          <p:cNvSpPr>
            <a:spLocks noGrp="1"/>
          </p:cNvSpPr>
          <p:nvPr/>
        </p:nvSpPr>
        <p:spPr>
          <a:xfrm>
            <a:off x="7296150" y="2400300"/>
            <a:ext cx="1123950" cy="1123950"/>
          </a:xfrm>
          <a:prstGeom prst="rect">
            <a:avLst/>
          </a:prstGeom>
          <a:solidFill>
            <a:srgbClr val="8F3F2B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99893-8C9B-469C-A767-8FB5C62111A3}"/>
              </a:ext>
            </a:extLst>
          </p:cNvPr>
          <p:cNvSpPr>
            <a:spLocks noGrp="1"/>
          </p:cNvSpPr>
          <p:nvPr/>
        </p:nvSpPr>
        <p:spPr>
          <a:xfrm>
            <a:off x="7296150" y="3676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Accent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913869-5E01-406E-9317-6D43D6E3CC6D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4629150" cy="876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500922-F4E0-4CAF-98E8-ECCF9D34EFFA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400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Space Grotesk pour les titres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075E9-3023-4FCB-ACB7-505D242A1663}"/>
              </a:ext>
            </a:extLst>
          </p:cNvPr>
          <p:cNvSpPr>
            <a:spLocks noGrp="1"/>
          </p:cNvSpPr>
          <p:nvPr/>
        </p:nvSpPr>
        <p:spPr>
          <a:xfrm>
            <a:off x="6019800" y="4362450"/>
            <a:ext cx="4629150" cy="876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7AF4E7-6ED7-47F3-AEDA-D9B5C053ACED}"/>
              </a:ext>
            </a:extLst>
          </p:cNvPr>
          <p:cNvSpPr>
            <a:spLocks noGrp="1"/>
          </p:cNvSpPr>
          <p:nvPr/>
        </p:nvSpPr>
        <p:spPr>
          <a:xfrm>
            <a:off x="6305550" y="46482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Plus Jakarta Sans pour les contenus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58F35-A219-42C5-BAB0-60C5C585AFAE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B7AE9A-1CA1-4504-B44E-4E1AA19F959F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360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CDE9D43-54D1-43F1-BCEF-B08929541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2A7225E-A068-49C9-9319-A8692A6823E8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124DE70-B1AE-4FC4-8F7B-2B7F2A5F6212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PAGES CLÉS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D7867-AE23-446E-A0AD-3BDE53FCE046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Chaque page porte une étape précise du tunnel de confiance.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D7E80-A787-4637-ACCF-9808FDB40EF5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85750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464192-5A30-4B57-AE49-92E608C1B810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Accueil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2E2CF-99B3-4B62-99E1-5893EA82CEA6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Promesse, statistiques, catégories, témoignages, blog et CTA.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D685D8-7BE5-45E4-B28D-482F804A2E51}"/>
              </a:ext>
            </a:extLst>
          </p:cNvPr>
          <p:cNvSpPr>
            <a:spLocks noGrp="1"/>
          </p:cNvSpPr>
          <p:nvPr/>
        </p:nvSpPr>
        <p:spPr>
          <a:xfrm>
            <a:off x="4114800" y="2324100"/>
            <a:ext cx="285750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4D6F8-C57D-42D8-8C87-1068923F1F79}"/>
              </a:ext>
            </a:extLst>
          </p:cNvPr>
          <p:cNvSpPr>
            <a:spLocks noGrp="1"/>
          </p:cNvSpPr>
          <p:nvPr/>
        </p:nvSpPr>
        <p:spPr>
          <a:xfrm>
            <a:off x="4324350" y="25146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Freelances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53871-FD6E-495F-9A61-F15B8765D4EA}"/>
              </a:ext>
            </a:extLst>
          </p:cNvPr>
          <p:cNvSpPr>
            <a:spLocks noGrp="1"/>
          </p:cNvSpPr>
          <p:nvPr/>
        </p:nvSpPr>
        <p:spPr>
          <a:xfrm>
            <a:off x="4324350" y="29146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Profils illustrés avec spécialités, tarifs horaires et notes.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7E25CE-3F24-4B2A-AB45-776D30903A4B}"/>
              </a:ext>
            </a:extLst>
          </p:cNvPr>
          <p:cNvSpPr>
            <a:spLocks noGrp="1"/>
          </p:cNvSpPr>
          <p:nvPr/>
        </p:nvSpPr>
        <p:spPr>
          <a:xfrm>
            <a:off x="7543800" y="2324100"/>
            <a:ext cx="285750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2B9F40-B41A-4766-A847-73F3D3D0A43E}"/>
              </a:ext>
            </a:extLst>
          </p:cNvPr>
          <p:cNvSpPr>
            <a:spLocks noGrp="1"/>
          </p:cNvSpPr>
          <p:nvPr/>
        </p:nvSpPr>
        <p:spPr>
          <a:xfrm>
            <a:off x="7753350" y="25146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Tarifs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64441A-92B6-405B-B498-9A48FF33DBAD}"/>
              </a:ext>
            </a:extLst>
          </p:cNvPr>
          <p:cNvSpPr>
            <a:spLocks noGrp="1"/>
          </p:cNvSpPr>
          <p:nvPr/>
        </p:nvSpPr>
        <p:spPr>
          <a:xfrm>
            <a:off x="7753350" y="29146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Offres Gratuit, Pro et Entreprise avec FAQ rassurante.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4B1CFD-33AE-498E-8228-73BFBEEE0257}"/>
              </a:ext>
            </a:extLst>
          </p:cNvPr>
          <p:cNvSpPr>
            <a:spLocks noGrp="1"/>
          </p:cNvSpPr>
          <p:nvPr/>
        </p:nvSpPr>
        <p:spPr>
          <a:xfrm>
            <a:off x="2400300" y="4171950"/>
            <a:ext cx="33337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86238F-762A-4885-9BEF-DBC5C6F6E15E}"/>
              </a:ext>
            </a:extLst>
          </p:cNvPr>
          <p:cNvSpPr>
            <a:spLocks noGrp="1"/>
          </p:cNvSpPr>
          <p:nvPr/>
        </p:nvSpPr>
        <p:spPr>
          <a:xfrm>
            <a:off x="2609850" y="43624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À propos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47FB87-8E7F-4CD8-B51C-7EEB498A784A}"/>
              </a:ext>
            </a:extLst>
          </p:cNvPr>
          <p:cNvSpPr>
            <a:spLocks noGrp="1"/>
          </p:cNvSpPr>
          <p:nvPr/>
        </p:nvSpPr>
        <p:spPr>
          <a:xfrm>
            <a:off x="2609850" y="476250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Histoire, équipe, valeurs et chiffres de communauté.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4DE878-22F7-48AD-BE5D-57C304DC0205}"/>
              </a:ext>
            </a:extLst>
          </p:cNvPr>
          <p:cNvSpPr>
            <a:spLocks noGrp="1"/>
          </p:cNvSpPr>
          <p:nvPr/>
        </p:nvSpPr>
        <p:spPr>
          <a:xfrm>
            <a:off x="6400800" y="4171950"/>
            <a:ext cx="33337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9AA1C0-B869-446D-85A1-95C30F8D035E}"/>
              </a:ext>
            </a:extLst>
          </p:cNvPr>
          <p:cNvSpPr>
            <a:spLocks noGrp="1"/>
          </p:cNvSpPr>
          <p:nvPr/>
        </p:nvSpPr>
        <p:spPr>
          <a:xfrm>
            <a:off x="6610350" y="43624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Contact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7965F9-DCCC-4E46-B0C6-9D1FC6CE6889}"/>
              </a:ext>
            </a:extLst>
          </p:cNvPr>
          <p:cNvSpPr>
            <a:spLocks noGrp="1"/>
          </p:cNvSpPr>
          <p:nvPr/>
        </p:nvSpPr>
        <p:spPr>
          <a:xfrm>
            <a:off x="6610350" y="476250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Formulaire complet, coordonnées et carte de Dakar.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58B471-EBB3-4804-A132-080558B71036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5B08E7-4D63-4065-BAAE-2D6C7D0635C2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516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F796341-1FB2-44A4-9B9C-2A3342C29D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143DF4F-ABED-41AF-ADD7-9378082DC46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D953C34-052A-4AFD-AD18-2388C60A913D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CATALOGUE FREELANCES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9A4E5-D684-423D-8806-B18CF6B3C96C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Le catalogue montre la proposition de valeur avec des profils concrets et filtrables.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473A8-4B94-46DE-8D84-63AD72DCBD48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2152650" cy="1962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DF8060-376E-4CF2-ABCD-49A4501A8131}"/>
              </a:ext>
            </a:extLst>
          </p:cNvPr>
          <p:cNvSpPr>
            <a:spLocks noGrp="1"/>
          </p:cNvSpPr>
          <p:nvPr/>
        </p:nvSpPr>
        <p:spPr>
          <a:xfrm>
            <a:off x="1009650" y="26860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Khadija 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B19DA-BE45-4722-94CE-494EE491F924}"/>
              </a:ext>
            </a:extLst>
          </p:cNvPr>
          <p:cNvSpPr>
            <a:spLocks noGrp="1"/>
          </p:cNvSpPr>
          <p:nvPr/>
        </p:nvSpPr>
        <p:spPr>
          <a:xfrm>
            <a:off x="1009650" y="306705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BE501-2DDC-44D8-A1D2-574D21E1E551}"/>
              </a:ext>
            </a:extLst>
          </p:cNvPr>
          <p:cNvSpPr>
            <a:spLocks noGrp="1"/>
          </p:cNvSpPr>
          <p:nvPr/>
        </p:nvSpPr>
        <p:spPr>
          <a:xfrm>
            <a:off x="1009650" y="356235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38 EUR/h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80783F-C187-4451-9675-E7437CBC671A}"/>
              </a:ext>
            </a:extLst>
          </p:cNvPr>
          <p:cNvSpPr>
            <a:spLocks noGrp="1"/>
          </p:cNvSpPr>
          <p:nvPr/>
        </p:nvSpPr>
        <p:spPr>
          <a:xfrm>
            <a:off x="2057400" y="3562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★ 4.9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36F589-2BBB-472B-AA08-C6F543BE71CF}"/>
              </a:ext>
            </a:extLst>
          </p:cNvPr>
          <p:cNvSpPr>
            <a:spLocks noGrp="1"/>
          </p:cNvSpPr>
          <p:nvPr/>
        </p:nvSpPr>
        <p:spPr>
          <a:xfrm>
            <a:off x="3448050" y="2419350"/>
            <a:ext cx="2152650" cy="1962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E1B5D4-82B9-4FBA-9CA0-E83CEFFD313B}"/>
              </a:ext>
            </a:extLst>
          </p:cNvPr>
          <p:cNvSpPr>
            <a:spLocks noGrp="1"/>
          </p:cNvSpPr>
          <p:nvPr/>
        </p:nvSpPr>
        <p:spPr>
          <a:xfrm>
            <a:off x="3657600" y="26860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Aissatou B.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95AA0D-D4F1-4F4E-8FF0-54AEA58AF4F1}"/>
              </a:ext>
            </a:extLst>
          </p:cNvPr>
          <p:cNvSpPr>
            <a:spLocks noGrp="1"/>
          </p:cNvSpPr>
          <p:nvPr/>
        </p:nvSpPr>
        <p:spPr>
          <a:xfrm>
            <a:off x="3657600" y="306705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Data Scientist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BFA7D0-624C-41BC-AB96-11A97DBA7FD6}"/>
              </a:ext>
            </a:extLst>
          </p:cNvPr>
          <p:cNvSpPr>
            <a:spLocks noGrp="1"/>
          </p:cNvSpPr>
          <p:nvPr/>
        </p:nvSpPr>
        <p:spPr>
          <a:xfrm>
            <a:off x="3657600" y="356235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45 EUR/h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4CAF04-919E-4A9B-9090-6B023DA442DC}"/>
              </a:ext>
            </a:extLst>
          </p:cNvPr>
          <p:cNvSpPr>
            <a:spLocks noGrp="1"/>
          </p:cNvSpPr>
          <p:nvPr/>
        </p:nvSpPr>
        <p:spPr>
          <a:xfrm>
            <a:off x="4705350" y="3562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★ 5.0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D7FE74-A1A2-4369-9692-A4B5B07F64E2}"/>
              </a:ext>
            </a:extLst>
          </p:cNvPr>
          <p:cNvSpPr>
            <a:spLocks noGrp="1"/>
          </p:cNvSpPr>
          <p:nvPr/>
        </p:nvSpPr>
        <p:spPr>
          <a:xfrm>
            <a:off x="6096000" y="2419350"/>
            <a:ext cx="2152650" cy="1962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66E829-1F0E-4B60-8B17-1C7E46E9F0C9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Brice 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D7BA0-7C21-4647-8B62-B0205E85AAD4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DevOps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56113-E88E-4E68-9396-947763FF05A3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52 EUR/h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8400E5-C4B6-4E04-B5FD-0E3CCCF7F476}"/>
              </a:ext>
            </a:extLst>
          </p:cNvPr>
          <p:cNvSpPr>
            <a:spLocks noGrp="1"/>
          </p:cNvSpPr>
          <p:nvPr/>
        </p:nvSpPr>
        <p:spPr>
          <a:xfrm>
            <a:off x="7353300" y="3562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★ 4.9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53F5D9-840B-4752-B2DA-2B79A3B8EC98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152650" cy="19621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090C2C-321F-4A1E-B909-193BF12D9AE3}"/>
              </a:ext>
            </a:extLst>
          </p:cNvPr>
          <p:cNvSpPr>
            <a:spLocks noGrp="1"/>
          </p:cNvSpPr>
          <p:nvPr/>
        </p:nvSpPr>
        <p:spPr>
          <a:xfrm>
            <a:off x="8953500" y="26860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Yao K.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62DF5E-1623-4682-BB19-71EE0E3CA721}"/>
              </a:ext>
            </a:extLst>
          </p:cNvPr>
          <p:cNvSpPr>
            <a:spLocks noGrp="1"/>
          </p:cNvSpPr>
          <p:nvPr/>
        </p:nvSpPr>
        <p:spPr>
          <a:xfrm>
            <a:off x="8953500" y="306705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Growth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23416-45CE-4555-A7BC-A19215A168E5}"/>
              </a:ext>
            </a:extLst>
          </p:cNvPr>
          <p:cNvSpPr>
            <a:spLocks noGrp="1"/>
          </p:cNvSpPr>
          <p:nvPr/>
        </p:nvSpPr>
        <p:spPr>
          <a:xfrm>
            <a:off x="8953500" y="356235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29 EUR/h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61FCC6-78D2-4E8D-A29A-017750A602A7}"/>
              </a:ext>
            </a:extLst>
          </p:cNvPr>
          <p:cNvSpPr>
            <a:spLocks noGrp="1"/>
          </p:cNvSpPr>
          <p:nvPr/>
        </p:nvSpPr>
        <p:spPr>
          <a:xfrm>
            <a:off x="10001250" y="3562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★ 4.7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E1CD37-E5B3-41B2-9656-28E8E756472D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76300" cy="361950"/>
          </a:xfrm>
          <a:prstGeom prst="rect">
            <a:avLst/>
          </a:prstGeom>
          <a:solidFill>
            <a:srgbClr val="0F766E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FFFDF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FFFDF8"/>
                </a:solidFill>
                <a:latin typeface="Plus Jakarta Sans"/>
                <a:ea typeface="Plus Jakarta Sans"/>
                <a:cs typeface="Plus Jakarta Sans"/>
              </a:rPr>
              <a:t>Tous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AC4644-B405-4093-8779-F858A8213ED0}"/>
              </a:ext>
            </a:extLst>
          </p:cNvPr>
          <p:cNvSpPr>
            <a:spLocks noGrp="1"/>
          </p:cNvSpPr>
          <p:nvPr/>
        </p:nvSpPr>
        <p:spPr>
          <a:xfrm>
            <a:off x="2495550" y="4838700"/>
            <a:ext cx="142875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Développement Web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8DD10B-EFA1-4A96-883C-E1C01CD4713A}"/>
              </a:ext>
            </a:extLst>
          </p:cNvPr>
          <p:cNvSpPr>
            <a:spLocks noGrp="1"/>
          </p:cNvSpPr>
          <p:nvPr/>
        </p:nvSpPr>
        <p:spPr>
          <a:xfrm>
            <a:off x="4152900" y="4838700"/>
            <a:ext cx="142875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Design UI/UX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88A401-7761-4EC8-9C75-95E5C7D5A231}"/>
              </a:ext>
            </a:extLst>
          </p:cNvPr>
          <p:cNvSpPr>
            <a:spLocks noGrp="1"/>
          </p:cNvSpPr>
          <p:nvPr/>
        </p:nvSpPr>
        <p:spPr>
          <a:xfrm>
            <a:off x="5810250" y="4838700"/>
            <a:ext cx="142875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Marketing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F823EC-E104-4646-AA20-D7464E176BEC}"/>
              </a:ext>
            </a:extLst>
          </p:cNvPr>
          <p:cNvSpPr>
            <a:spLocks noGrp="1"/>
          </p:cNvSpPr>
          <p:nvPr/>
        </p:nvSpPr>
        <p:spPr>
          <a:xfrm>
            <a:off x="7467600" y="4838700"/>
            <a:ext cx="142875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Data &amp; IA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72699A-0421-4ACF-A185-5886C0A1C8BB}"/>
              </a:ext>
            </a:extLst>
          </p:cNvPr>
          <p:cNvSpPr>
            <a:spLocks noGrp="1"/>
          </p:cNvSpPr>
          <p:nvPr/>
        </p:nvSpPr>
        <p:spPr>
          <a:xfrm>
            <a:off x="9124950" y="4838700"/>
            <a:ext cx="1428750" cy="36195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 lIns="114300" tIns="57150" rIns="114300" bIns="57150" anchor="ctr"/>
          <a:lstStyle/>
          <a:p>
            <a:pPr algn="ctr">
              <a:def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DevOps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0DF7B4-E460-4542-BC35-FC1EE4A802E7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6633F-BFC5-412A-BB2C-4C322DB1F3DF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7320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DE79CB9-0D3C-4C90-956F-75FBBB973A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0968122-DC61-4CBD-A5B6-7FB48E32AEC3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60E75D4-DE20-4655-A5E0-4971397401CA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TARIFICATION ET CONVERSION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031731-9D68-4FF7-839B-EDDED850E3AE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Les offres structurent la conversion sans sortir du périmètre vitrine.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89CE90-1932-4BF4-AC8A-220D7DC1DFFC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895600" cy="20955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48A8E-8639-4608-BA35-E58AF4590B70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Gratuit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7624C7-CDC0-47C0-825A-A762CAA12347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0 EUR / mois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58433B-2673-4AF3-A6F7-AC45DE095F66}"/>
              </a:ext>
            </a:extLst>
          </p:cNvPr>
          <p:cNvSpPr>
            <a:spLocks noGrp="1"/>
          </p:cNvSpPr>
          <p:nvPr/>
        </p:nvSpPr>
        <p:spPr>
          <a:xfrm>
            <a:off x="1143000" y="398145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Profil public, 5 candidatures, messagerie.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8A51E3-2806-40DB-A344-713C4984A7B3}"/>
              </a:ext>
            </a:extLst>
          </p:cNvPr>
          <p:cNvSpPr>
            <a:spLocks noGrp="1"/>
          </p:cNvSpPr>
          <p:nvPr/>
        </p:nvSpPr>
        <p:spPr>
          <a:xfrm>
            <a:off x="4400550" y="2476500"/>
            <a:ext cx="2895600" cy="20955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D33965-BA94-4AF6-BCEA-3B772CF3EEFD}"/>
              </a:ext>
            </a:extLst>
          </p:cNvPr>
          <p:cNvSpPr>
            <a:spLocks noGrp="1"/>
          </p:cNvSpPr>
          <p:nvPr/>
        </p:nvSpPr>
        <p:spPr>
          <a:xfrm>
            <a:off x="46672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DF8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FFFDF8"/>
                </a:solidFill>
                <a:latin typeface="Space Grotesk"/>
                <a:ea typeface="Space Grotesk"/>
                <a:cs typeface="Space Grotesk"/>
              </a:rPr>
              <a:t>Pro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CB44A6-5833-41AE-90D9-27904755EC21}"/>
              </a:ext>
            </a:extLst>
          </p:cNvPr>
          <p:cNvSpPr>
            <a:spLocks noGrp="1"/>
          </p:cNvSpPr>
          <p:nvPr/>
        </p:nvSpPr>
        <p:spPr>
          <a:xfrm>
            <a:off x="4667250" y="3371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1">
                <a:solidFill>
                  <a:srgbClr val="F3A35C"/>
                </a:solidFill>
                <a:latin typeface="Plus Jakarta Sans"/>
                <a:ea typeface="Plus Jakarta Sans"/>
                <a:cs typeface="Plus Jakarta Sans"/>
              </a:rPr>
              <a:t>29 EUR / mois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B8D49F-8407-4404-B4B3-69C1C021CE02}"/>
              </a:ext>
            </a:extLst>
          </p:cNvPr>
          <p:cNvSpPr>
            <a:spLocks noGrp="1"/>
          </p:cNvSpPr>
          <p:nvPr/>
        </p:nvSpPr>
        <p:spPr>
          <a:xfrm>
            <a:off x="4667250" y="398145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Candidatures illimitées, profil vérifié, statistiques.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D57472-9148-40AD-B900-7ECF86BBCCE1}"/>
              </a:ext>
            </a:extLst>
          </p:cNvPr>
          <p:cNvSpPr>
            <a:spLocks noGrp="1"/>
          </p:cNvSpPr>
          <p:nvPr/>
        </p:nvSpPr>
        <p:spPr>
          <a:xfrm>
            <a:off x="7924800" y="2476500"/>
            <a:ext cx="2895600" cy="20955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835EFB-F948-4CDE-AE59-70914240B480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Entreprise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E1F02B-063C-4B87-8FA4-BB3D2894E857}"/>
              </a:ext>
            </a:extLst>
          </p:cNvPr>
          <p:cNvSpPr>
            <a:spLocks noGrp="1"/>
          </p:cNvSpPr>
          <p:nvPr/>
        </p:nvSpPr>
        <p:spPr>
          <a:xfrm>
            <a:off x="8191500" y="3371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89 EUR / mois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5DF08D-3268-4FCE-A45B-DE9159A6F233}"/>
              </a:ext>
            </a:extLst>
          </p:cNvPr>
          <p:cNvSpPr>
            <a:spLocks noGrp="1"/>
          </p:cNvSpPr>
          <p:nvPr/>
        </p:nvSpPr>
        <p:spPr>
          <a:xfrm>
            <a:off x="8191500" y="398145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Matching prioritaire, multi-comptes, support stratégique.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496E75-DECF-4C65-B38E-5495F627EB41}"/>
              </a:ext>
            </a:extLst>
          </p:cNvPr>
          <p:cNvSpPr>
            <a:spLocks noGrp="1"/>
          </p:cNvSpPr>
          <p:nvPr/>
        </p:nvSpPr>
        <p:spPr>
          <a:xfrm>
            <a:off x="1352550" y="5124450"/>
            <a:ext cx="876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La page Contact ferme le parcours avec un formulaire validé en JavaScript et des coordonnées contextualisées : hello@afritalent.io, téléphone, Dakar.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5C92D-4DC3-4351-B80C-C50438D9080F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426531-91CC-41F3-AEEF-EF03CDAC9136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5591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0D03DD4-951E-4BA8-BBE6-9B67EE26E5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133BC5C-3DF2-4B46-A031-9BD7FCB098F4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4C08878-F9F4-4B95-ACBC-F115E3824405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QUALITÉ FRONT-END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6D10A-F2E6-481B-AB50-A321F8B52435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Le projet montre les fondamentaux attendus d'un site web moderne.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EE0BF-05BB-4215-B48A-44ACB0E649E1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76200" cy="762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2D0B0F-395D-48E7-98A1-55C8F6BD8CC5}"/>
              </a:ext>
            </a:extLst>
          </p:cNvPr>
          <p:cNvSpPr>
            <a:spLocks noGrp="1"/>
          </p:cNvSpPr>
          <p:nvPr/>
        </p:nvSpPr>
        <p:spPr>
          <a:xfrm>
            <a:off x="1143000" y="2266950"/>
            <a:ext cx="855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HTML5 sémantique : navigation, sections, formulaires, labels et textes alternatifs.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C9D8E0-640B-4873-A14F-AD8923E7EB8B}"/>
              </a:ext>
            </a:extLst>
          </p:cNvPr>
          <p:cNvSpPr>
            <a:spLocks noGrp="1"/>
          </p:cNvSpPr>
          <p:nvPr/>
        </p:nvSpPr>
        <p:spPr>
          <a:xfrm>
            <a:off x="933450" y="29622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1E4625-9CFF-47B9-B6F9-462F29E7D287}"/>
              </a:ext>
            </a:extLst>
          </p:cNvPr>
          <p:cNvSpPr>
            <a:spLocks noGrp="1"/>
          </p:cNvSpPr>
          <p:nvPr/>
        </p:nvSpPr>
        <p:spPr>
          <a:xfrm>
            <a:off x="1143000" y="2895600"/>
            <a:ext cx="855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Bootstrap 5 : navbar responsive, carousel, accordion, grid et composants réutilisés.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097F0-BA57-46F7-9081-D343BFAC0472}"/>
              </a:ext>
            </a:extLst>
          </p:cNvPr>
          <p:cNvSpPr>
            <a:spLocks noGrp="1"/>
          </p:cNvSpPr>
          <p:nvPr/>
        </p:nvSpPr>
        <p:spPr>
          <a:xfrm>
            <a:off x="933450" y="3590925"/>
            <a:ext cx="76200" cy="762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0D9EFE-7D50-47A8-AE65-2C6E1B28EF42}"/>
              </a:ext>
            </a:extLst>
          </p:cNvPr>
          <p:cNvSpPr>
            <a:spLocks noGrp="1"/>
          </p:cNvSpPr>
          <p:nvPr/>
        </p:nvSpPr>
        <p:spPr>
          <a:xfrm>
            <a:off x="1143000" y="3524250"/>
            <a:ext cx="855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CSS custom properties : couleurs, surfaces, ombres, radius et mode sombre centralisés.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C722DF-B4F4-4FF3-9ED2-09C89A5942EB}"/>
              </a:ext>
            </a:extLst>
          </p:cNvPr>
          <p:cNvSpPr>
            <a:spLocks noGrp="1"/>
          </p:cNvSpPr>
          <p:nvPr/>
        </p:nvSpPr>
        <p:spPr>
          <a:xfrm>
            <a:off x="933450" y="4219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BC01E-27DD-42C9-A681-E8A4A003B6C6}"/>
              </a:ext>
            </a:extLst>
          </p:cNvPr>
          <p:cNvSpPr>
            <a:spLocks noGrp="1"/>
          </p:cNvSpPr>
          <p:nvPr/>
        </p:nvSpPr>
        <p:spPr>
          <a:xfrm>
            <a:off x="1143000" y="4152900"/>
            <a:ext cx="855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Responsive design : grilles fluides, cartes adaptatives et navigation mobile.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821427-06F7-4AAB-BFD4-49CA97FCF589}"/>
              </a:ext>
            </a:extLst>
          </p:cNvPr>
          <p:cNvSpPr>
            <a:spLocks noGrp="1"/>
          </p:cNvSpPr>
          <p:nvPr/>
        </p:nvSpPr>
        <p:spPr>
          <a:xfrm>
            <a:off x="933450" y="4848225"/>
            <a:ext cx="76200" cy="762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2CC3AE-89A6-477F-953A-AC32FC5CFA2F}"/>
              </a:ext>
            </a:extLst>
          </p:cNvPr>
          <p:cNvSpPr>
            <a:spLocks noGrp="1"/>
          </p:cNvSpPr>
          <p:nvPr/>
        </p:nvSpPr>
        <p:spPr>
          <a:xfrm>
            <a:off x="1143000" y="4781550"/>
            <a:ext cx="855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Accessibilité : lien d'évitement, aria-labels, alt text, états visuels de formulaire.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D3A53F-D409-4FC9-8990-E9EEA801E83E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384327-D071-4A6C-9F69-52C43CD922CA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129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pPr defTabSz="1219170" rtl="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46304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560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5600" dirty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6822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2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accessible en ligne via GitHub Pages :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3535680"/>
            <a:ext cx="11216640" cy="792480"/>
          </a:xfrm>
          <a:prstGeom prst="rect">
            <a:avLst/>
          </a:prstGeom>
          <a:solidFill>
            <a:schemeClr val="tx1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pPr defTabSz="1219170" rtl="0"/>
            <a:endParaRPr lang="fr-FR" sz="24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0560" y="35966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1867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https://nf-code9.github.io/NDOUNA-Franck-AfriTalent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4693920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 rtl="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469392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 rtl="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9744" y="473049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accessibles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5157216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 rtl="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5157216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 rtl="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9744" y="5193792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chargées correctement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5620512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 rtl="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562051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 rtl="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9744" y="5657088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fonctionnel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6083808"/>
            <a:ext cx="341376" cy="3413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 rtl="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7680" y="608380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 rtl="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99744" y="6120384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 rtl="0"/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validé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1964F5B-3F21-4758-80FE-DFE99335F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136C68E-E2B8-41C2-90FB-081AD8C1BD5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247650" cy="38100"/>
          </a:xfrm>
          <a:prstGeom prst="rect">
            <a:avLst/>
          </a:prstGeom>
          <a:solidFill>
            <a:srgbClr val="C96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6B393B0-F3D2-44F3-9DE4-2BE9ABF46D39}"/>
              </a:ext>
            </a:extLst>
          </p:cNvPr>
          <p:cNvSpPr>
            <a:spLocks noGrp="1"/>
          </p:cNvSpPr>
          <p:nvPr/>
        </p:nvSpPr>
        <p:spPr>
          <a:xfrm>
            <a:off x="933450" y="5143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96F2D"/>
                </a:solidFill>
                <a:latin typeface="Plus Jakarta Sans"/>
                <a:ea typeface="Plus Jakarta Sans"/>
                <a:cs typeface="Plus Jakarta Sans"/>
              </a:rPr>
              <a:t>BILAN ET AMÉLIORATIONS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0ACD7-BDD6-49ED-BE1B-64CEB58F21BE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723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D1B18"/>
                </a:solidFill>
                <a:latin typeface="Space Grotesk"/>
                <a:ea typeface="Space Grotesk"/>
                <a:cs typeface="Space Grotesk"/>
              </a:rPr>
              <a:t>La version actuelle est solide pour une vitrine ; la suite serait de rendre la plateforme réellement dynamique.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C8913-4C3B-4A95-AFDD-56671E58C0CB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4095750" cy="2400300"/>
          </a:xfrm>
          <a:prstGeom prst="rect">
            <a:avLst/>
          </a:prstGeom>
          <a:solidFill>
            <a:srgbClr val="FFFDF8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DCD4A-AF9E-4100-8983-BF71EB56F195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Réalisé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5D44F4-4893-4378-AB93-EB422719F35B}"/>
              </a:ext>
            </a:extLst>
          </p:cNvPr>
          <p:cNvSpPr>
            <a:spLocks noGrp="1"/>
          </p:cNvSpPr>
          <p:nvPr/>
        </p:nvSpPr>
        <p:spPr>
          <a:xfrm>
            <a:off x="1371600" y="339090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• Site multi-pages cohérent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FE104-E537-4BF1-A946-28B249BFD292}"/>
              </a:ext>
            </a:extLst>
          </p:cNvPr>
          <p:cNvSpPr>
            <a:spLocks noGrp="1"/>
          </p:cNvSpPr>
          <p:nvPr/>
        </p:nvSpPr>
        <p:spPr>
          <a:xfrm>
            <a:off x="1371600" y="375285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• Interactions JS fonctionnelles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5D93E-BCAF-4282-9AFD-7AE19D57E6A7}"/>
              </a:ext>
            </a:extLst>
          </p:cNvPr>
          <p:cNvSpPr>
            <a:spLocks noGrp="1"/>
          </p:cNvSpPr>
          <p:nvPr/>
        </p:nvSpPr>
        <p:spPr>
          <a:xfrm>
            <a:off x="1371600" y="411480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• Catalogue et tarifs exploitables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9E6B27-E2F6-42EC-8ADE-EC85A91AF51B}"/>
              </a:ext>
            </a:extLst>
          </p:cNvPr>
          <p:cNvSpPr>
            <a:spLocks noGrp="1"/>
          </p:cNvSpPr>
          <p:nvPr/>
        </p:nvSpPr>
        <p:spPr>
          <a:xfrm>
            <a:off x="1371600" y="447675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1D1B18"/>
                </a:solidFill>
                <a:latin typeface="Plus Jakarta Sans"/>
                <a:ea typeface="Plus Jakarta Sans"/>
                <a:cs typeface="Plus Jakarta Sans"/>
              </a:rPr>
              <a:t>• Présentation visuelle complète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0D0B27-68AE-468E-9B36-636AD6DBAD53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4095750" cy="2400300"/>
          </a:xfrm>
          <a:prstGeom prst="rect">
            <a:avLst/>
          </a:prstGeom>
          <a:solidFill>
            <a:srgbClr val="151311"/>
          </a:solidFill>
          <a:ln w="9525">
            <a:solidFill>
              <a:srgbClr val="1513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879D95-D23E-495C-959C-AFDA7CBF41E0}"/>
              </a:ext>
            </a:extLst>
          </p:cNvPr>
          <p:cNvSpPr>
            <a:spLocks noGrp="1"/>
          </p:cNvSpPr>
          <p:nvPr/>
        </p:nvSpPr>
        <p:spPr>
          <a:xfrm>
            <a:off x="6800850" y="28194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3A35C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F3A35C"/>
                </a:solidFill>
                <a:latin typeface="Space Grotesk"/>
                <a:ea typeface="Space Grotesk"/>
                <a:cs typeface="Space Grotesk"/>
              </a:rPr>
              <a:t>À améliorer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82AF4-F580-4122-AF05-41FD1103933B}"/>
              </a:ext>
            </a:extLst>
          </p:cNvPr>
          <p:cNvSpPr>
            <a:spLocks noGrp="1"/>
          </p:cNvSpPr>
          <p:nvPr/>
        </p:nvSpPr>
        <p:spPr>
          <a:xfrm>
            <a:off x="6819900" y="339090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• Corriger les caractères encodés dans certains HTML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7D927A-3C92-42A6-BFD1-522FD4E8EB21}"/>
              </a:ext>
            </a:extLst>
          </p:cNvPr>
          <p:cNvSpPr>
            <a:spLocks noGrp="1"/>
          </p:cNvSpPr>
          <p:nvPr/>
        </p:nvSpPr>
        <p:spPr>
          <a:xfrm>
            <a:off x="6819900" y="375285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• Ajouter une vraie recherche textuelle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293DED-25B8-46CF-B21F-F635B1201E41}"/>
              </a:ext>
            </a:extLst>
          </p:cNvPr>
          <p:cNvSpPr>
            <a:spLocks noGrp="1"/>
          </p:cNvSpPr>
          <p:nvPr/>
        </p:nvSpPr>
        <p:spPr>
          <a:xfrm>
            <a:off x="6819900" y="411480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• Brancher le formulaire à un 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76C8CB-314B-4E75-8E7A-91907F98E2F3}"/>
              </a:ext>
            </a:extLst>
          </p:cNvPr>
          <p:cNvSpPr>
            <a:spLocks noGrp="1"/>
          </p:cNvSpPr>
          <p:nvPr/>
        </p:nvSpPr>
        <p:spPr>
          <a:xfrm>
            <a:off x="6819900" y="447675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• Créer des profils dynamiques depuis une 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7CD10B-EAFD-4E9A-BB88-BF7A2ACD5B7B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</a:rPr>
              <a:t>AfriTalent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5989B-1C9B-4F09-9580-70D05C249E55}"/>
              </a:ext>
            </a:extLst>
          </p:cNvPr>
          <p:cNvSpPr>
            <a:spLocks noGrp="1"/>
          </p:cNvSpPr>
          <p:nvPr/>
        </p:nvSpPr>
        <p:spPr>
          <a:xfrm>
            <a:off x="11125200" y="61912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6C655D"/>
                </a:solidFill>
                <a:latin typeface="Plus Jakarta Sans"/>
                <a:ea typeface="Plus Jakarta Sans"/>
                <a:cs typeface="Plus Jakarta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6162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46FC56-5358-407F-837A-E624BCED9B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3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47957F-6618-4A38-9E78-3E5A1B367F0A}"/>
              </a:ext>
            </a:extLst>
          </p:cNvPr>
          <p:cNvSpPr>
            <a:spLocks noGrp="1"/>
          </p:cNvSpPr>
          <p:nvPr/>
        </p:nvSpPr>
        <p:spPr>
          <a:xfrm>
            <a:off x="1581150" y="1752600"/>
            <a:ext cx="86487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450" b="1">
                <a:solidFill>
                  <a:srgbClr val="FFFDF8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FFFDF8"/>
                </a:solidFill>
                <a:latin typeface="Space Grotesk"/>
                <a:ea typeface="Space Grotesk"/>
                <a:cs typeface="Space Grotesk"/>
              </a:rPr>
              <a:t>Merci. Le projet est prêt à être présenté, testé et expliqué page par page.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F1AC2-8C6A-487E-89CC-7DEBB52A9784}"/>
              </a:ext>
            </a:extLst>
          </p:cNvPr>
          <p:cNvSpPr>
            <a:spLocks noGrp="1"/>
          </p:cNvSpPr>
          <p:nvPr/>
        </p:nvSpPr>
        <p:spPr>
          <a:xfrm>
            <a:off x="2266950" y="3124200"/>
            <a:ext cx="7334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Démo recommandée : ouvrir index.html, tester le mode sombre, filtrer les freelances, consulter les tarifs puis envoyer un formulaire de contact.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6B27FD-C6FF-4AB9-B87B-719EE10E3A61}"/>
              </a:ext>
            </a:extLst>
          </p:cNvPr>
          <p:cNvSpPr>
            <a:spLocks noGrp="1"/>
          </p:cNvSpPr>
          <p:nvPr/>
        </p:nvSpPr>
        <p:spPr>
          <a:xfrm>
            <a:off x="1752600" y="4400550"/>
            <a:ext cx="180975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F9CBC9-FE86-4631-B8A3-D8B162449641}"/>
              </a:ext>
            </a:extLst>
          </p:cNvPr>
          <p:cNvSpPr>
            <a:spLocks noGrp="1"/>
          </p:cNvSpPr>
          <p:nvPr/>
        </p:nvSpPr>
        <p:spPr>
          <a:xfrm>
            <a:off x="1924050" y="45720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24D911-4BAA-47BF-8CA0-E0C15957BF69}"/>
              </a:ext>
            </a:extLst>
          </p:cNvPr>
          <p:cNvSpPr>
            <a:spLocks noGrp="1"/>
          </p:cNvSpPr>
          <p:nvPr/>
        </p:nvSpPr>
        <p:spPr>
          <a:xfrm>
            <a:off x="1924050" y="502920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pages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7450BF-242C-44A5-9733-246BA78B6A27}"/>
              </a:ext>
            </a:extLst>
          </p:cNvPr>
          <p:cNvSpPr>
            <a:spLocks noGrp="1"/>
          </p:cNvSpPr>
          <p:nvPr/>
        </p:nvSpPr>
        <p:spPr>
          <a:xfrm>
            <a:off x="3943350" y="4400550"/>
            <a:ext cx="180975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B0B15-8198-433A-A86A-D4E46B87F30E}"/>
              </a:ext>
            </a:extLst>
          </p:cNvPr>
          <p:cNvSpPr>
            <a:spLocks noGrp="1"/>
          </p:cNvSpPr>
          <p:nvPr/>
        </p:nvSpPr>
        <p:spPr>
          <a:xfrm>
            <a:off x="4114800" y="45720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52274E-3795-4B31-848D-82739B311308}"/>
              </a:ext>
            </a:extLst>
          </p:cNvPr>
          <p:cNvSpPr>
            <a:spLocks noGrp="1"/>
          </p:cNvSpPr>
          <p:nvPr/>
        </p:nvSpPr>
        <p:spPr>
          <a:xfrm>
            <a:off x="4114800" y="502920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feuille CSS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25AFEE-CD4F-4441-828B-10198D881CEA}"/>
              </a:ext>
            </a:extLst>
          </p:cNvPr>
          <p:cNvSpPr>
            <a:spLocks noGrp="1"/>
          </p:cNvSpPr>
          <p:nvPr/>
        </p:nvSpPr>
        <p:spPr>
          <a:xfrm>
            <a:off x="6134100" y="4400550"/>
            <a:ext cx="180975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51667-AD90-4E25-BF36-CD9D70D1D413}"/>
              </a:ext>
            </a:extLst>
          </p:cNvPr>
          <p:cNvSpPr>
            <a:spLocks noGrp="1"/>
          </p:cNvSpPr>
          <p:nvPr/>
        </p:nvSpPr>
        <p:spPr>
          <a:xfrm>
            <a:off x="6305550" y="45720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1448F-ED38-4690-AEF0-169418F36C5E}"/>
              </a:ext>
            </a:extLst>
          </p:cNvPr>
          <p:cNvSpPr>
            <a:spLocks noGrp="1"/>
          </p:cNvSpPr>
          <p:nvPr/>
        </p:nvSpPr>
        <p:spPr>
          <a:xfrm>
            <a:off x="6305550" y="502920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script JS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DD3C1-0F36-495E-A8CB-4E3547AEA3D7}"/>
              </a:ext>
            </a:extLst>
          </p:cNvPr>
          <p:cNvSpPr>
            <a:spLocks noGrp="1"/>
          </p:cNvSpPr>
          <p:nvPr/>
        </p:nvSpPr>
        <p:spPr>
          <a:xfrm>
            <a:off x="8324850" y="4400550"/>
            <a:ext cx="1809750" cy="1104900"/>
          </a:xfrm>
          <a:prstGeom prst="rect">
            <a:avLst/>
          </a:prstGeom>
          <a:solidFill>
            <a:srgbClr val="201D19"/>
          </a:solidFill>
          <a:ln w="9525">
            <a:solidFill>
              <a:srgbClr val="DDD1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9FA4D4-EAB1-4E9B-8D22-4BF5E505346D}"/>
              </a:ext>
            </a:extLst>
          </p:cNvPr>
          <p:cNvSpPr>
            <a:spLocks noGrp="1"/>
          </p:cNvSpPr>
          <p:nvPr/>
        </p:nvSpPr>
        <p:spPr>
          <a:xfrm>
            <a:off x="8496300" y="45720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60C4B3"/>
                </a:solidFill>
                <a:latin typeface="Space Grotesk"/>
                <a:ea typeface="Space Grotesk"/>
                <a:cs typeface="Space Grotesk"/>
              </a:rPr>
              <a:t>SVG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6BDD44-471F-48E3-8139-F050EF4E769D}"/>
              </a:ext>
            </a:extLst>
          </p:cNvPr>
          <p:cNvSpPr>
            <a:spLocks noGrp="1"/>
          </p:cNvSpPr>
          <p:nvPr/>
        </p:nvSpPr>
        <p:spPr>
          <a:xfrm>
            <a:off x="8496300" y="502920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assets visuels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E07C71-D139-476A-ADA9-333C61541BF8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1066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C1B4A6"/>
                </a:solidFill>
                <a:latin typeface="Plus Jakarta Sans"/>
                <a:ea typeface="Plus Jakarta Sans"/>
                <a:cs typeface="Plus Jakarta Sans"/>
              </a:rPr>
              <a:t>AfriTalent - Projet web statique - 2026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67350" y="533400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92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889</Words>
  <Application>Microsoft Office PowerPoint</Application>
  <DocSecurity>0</DocSecurity>
  <PresentationFormat>Grand écran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Consolas</vt:lpstr>
      <vt:lpstr>Plus Jakarta Sans</vt:lpstr>
      <vt:lpstr>Space Grotesk</vt:lpstr>
      <vt:lpstr>ChatGPT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HP</cp:lastModifiedBy>
  <cp:revision>2</cp:revision>
  <dcterms:created xsi:type="dcterms:W3CDTF">2026-07-02T20:58:57Z</dcterms:created>
  <dcterms:modified xsi:type="dcterms:W3CDTF">2026-07-03T09:46:46Z</dcterms:modified>
</cp:coreProperties>
</file>